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solidFill>
            <a:srgbClr val="161626"/>
          </a:solidFill>
          <a:ln w="1905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235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0DFD8"/>
                </a:solidFill>
                <a:latin typeface="Segoe UI"/>
              </a:defRPr>
            </a:pPr>
            <a:r>
              <a:t>AI RECRUITER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Intelligent Talent Ingestion &amp; Candidate Alignment System</a:t>
            </a:r>
            <a:br/>
            <a:br/>
            <a:r>
              <a:t>Automated Resume Ingestion, Semantic Matching, and Proctor-Secure AI Interviews</a:t>
            </a:r>
          </a:p>
          <a:p>
            <a:pPr>
              <a:spcBef>
                <a:spcPts val="3600"/>
              </a:spcBef>
              <a:defRPr sz="1350">
                <a:solidFill>
                  <a:srgbClr val="A0A0B0"/>
                </a:solidFill>
                <a:latin typeface="Segoe UI"/>
              </a:defRPr>
            </a:pPr>
            <a:r>
              <a:t>Presenter: Sania</a:t>
            </a:r>
            <a:br/>
            <a:r>
              <a:t>Chandigarh Group of Colleges, Landran</a:t>
            </a:r>
            <a:br/>
            <a:r>
              <a:t>Submitted for India Runs by Redrob AI Hackathon (Hack2Skill)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The Core Problem in Recruitment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Keyword Matching is Broken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Traditional recruitment software filters profiles using literal keyword matches, missing highly qualified candidates who describe their skills differently.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Inconsistent Evaluations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Manual resume reviews are slow and subject to recruiter bias, leading to inconsistent evaluations and missed matches.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Scale Bottleneck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Talent acquisition teams spend hours conducting repetitive phone screens and filtering huge stacks of candidates.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Our 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Double-Layer Screening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• Layer 1 (Semantic Filtering):</a:t>
            </a:r>
            <a:br/>
            <a:r>
              <a:t>Matches candidates instantly based on context and meaning, not just keywords.</a:t>
            </a:r>
            <a:br/>
            <a:br/>
            <a:r>
              <a:t>• Layer 2 (Deep LLM Scoring):</a:t>
            </a:r>
            <a:br/>
            <a:r>
              <a:t>Uses Gemini 2.0 Flash to evaluate fit, list pros/cons, and generate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AI Screening Hub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An interactive, voice-driven screening interview with built-in behavioral telemetry to flag focus-loss or tab-switching in real-time.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Developer &amp; Stack Flexibility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Built primarily with a high-performance Python FastAPI backend, supported by an alternative Node.js Express/Supabase stack.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System 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800" cy="201168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1. Role Creation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Recruiter creates a job description, which the Google Gemini LLM parses into structured Must-Have and Nice-to-Have skills, experience level, and role summary.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535" y="1645920"/>
            <a:ext cx="5120640" cy="201168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0800" cy="201168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8135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2. Ingestion &amp; Extraction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Ingests candidate profiles (via CSV/PDF). Cleans and extracts names, emails, phones, and parsed text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120640" cy="201168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0800" cy="201168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3. Vector Matching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Calculates dense 384-dimensional semantic embeddings. Computes cosine similarity of candidate profiles against the job description requirements.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535" y="4023360"/>
            <a:ext cx="5120640" cy="201168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535" y="4023360"/>
            <a:ext cx="50800" cy="201168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8135" y="4206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4. Dynamic Weighting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Recruiter can dynamically adjust sliders (Experience vs. Skills vs. Leadership) to instantly recalculate and rank candidate fit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Layer 1: Semantic Search &amp; Weighting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Dense Embeddings Model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Uses local SentenceTransformers ('all-MiniLM-L6-v2') to compute 384-dimensional dense vectors locally to secure high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Zero-Crash Local Fallback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If remote servers or libraries are missing, the system uses local NumPy vector calculations and an in-memory cache to ensure zero-downtime evaluation.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Dynamic Customization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Features dynamic sliders that allow recruiters to customize candidate rank weighting on-the-fly, bringing total control back to recruiters.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Layer 2: Deep LLM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Intelligent Fit Scoring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Gemini 2.0 Flash performs deep text analysis of candidates' career milestones, project details, and technical expertise to assign realistic fit scores.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Constructive Feedback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Automatically drafts personalized emails, including structured outreach invites for top matches and customized feedback with learning resources for rejected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Outbox Validation Queue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Queues generated emails in a recruiter outbox for verification, editing, and approval before final transmission via SMTP.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AI Screening Room &amp; Proctoring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Biometrics Simulation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Local camera feed is rendered inside the chat portal with a live face landmark canvas to simulate focus tracking.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Speech Recognition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Integrated with the Web Speech API (webkitSpeechRecognition) configured for continuous listening and automatic restart, facilitating natural voice responses.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Anti-Cheating Telemetry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Monitors candidate focus, tab-switching, and window blur. Logs warnings immediately to the backend warning API '/api/interviews/proctor/warning/{cand_id}/{job_id}'.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Workspace Isolation &amp; Compliance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Secure JWT Authentication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Access is protected using JSON Web Tokens (JWT) encrypted with bcrypt hashing for secure session logins.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Recruiter Isolation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Multi-tenant workspace isolation ensures recruiters only see and manage their own jobs, candidate uploads, and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Administrative Compliance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All critical actions (proctoring warnings, uploads, status updates) write directly to a secure compliance Audit Log database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Diagnostic Integrity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100% Passed Tests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All backend diagnostic suites passed: JWT security cryptography, CSV profile ingestion, regex extractors, and workspace isolation.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Optimized Cost-Efficiency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Local embedding generation avoids high external API invocation costs, making the platform highly scalable.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50800"/>
          </a:xfrm>
          <a:prstGeom prst="rect">
            <a:avLst/>
          </a:prstGeom>
          <a:solidFill>
            <a:srgbClr val="00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FD8"/>
                </a:solidFill>
                <a:latin typeface="Segoe UI"/>
              </a:defRPr>
            </a:pPr>
            <a:r>
              <a:t>Immediate Ranked Output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Recruiter dashboard features a live 'Export CSV' button, producing the ranked candidate list in one click for instant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FD8"/>
                </a:solidFill>
                <a:latin typeface="Segoe UI"/>
              </a:defRPr>
            </a:pPr>
            <a:r>
              <a:t>Conclusion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9050"/>
          </a:xfrm>
          <a:prstGeom prst="rect">
            <a:avLst/>
          </a:prstGeom>
          <a:solidFill>
            <a:srgbClr val="23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5080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DFD8"/>
                </a:solidFill>
                <a:latin typeface="Segoe UI"/>
              </a:defRPr>
            </a:pPr>
            <a:r>
              <a:t>Functional Summary</a:t>
            </a:r>
          </a:p>
          <a:p>
            <a:pPr>
              <a:spcBef>
                <a:spcPts val="600"/>
              </a:spcBef>
              <a:defRPr sz="1450">
                <a:solidFill>
                  <a:srgbClr val="FFFFFF"/>
                </a:solidFill>
                <a:latin typeface="Segoe UI"/>
              </a:defRPr>
            </a:pPr>
            <a:r>
              <a:t>Delivered a complete, working, multi-role recruitment workflow featuring semantic vector search, LLM analysis, and anti-cheating screening.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161626"/>
          </a:solidFill>
          <a:ln w="12700">
            <a:solidFill>
              <a:srgbClr val="23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5080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3855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DFD8"/>
                </a:solidFill>
                <a:latin typeface="Segoe UI"/>
              </a:defRPr>
            </a:pPr>
            <a:r>
              <a:t>Future Extensions</a:t>
            </a:r>
          </a:p>
          <a:p>
            <a:pPr>
              <a:spcBef>
                <a:spcPts val="800"/>
              </a:spcBef>
              <a:defRPr sz="1450">
                <a:solidFill>
                  <a:srgbClr val="FFFFFF"/>
                </a:solidFill>
                <a:latin typeface="Segoe UI"/>
              </a:defRPr>
            </a:pPr>
            <a:r>
              <a:t>• Integrate WhatsApp outreach for faster candidate response times.</a:t>
            </a:r>
          </a:p>
          <a:p>
            <a:pPr>
              <a:spcBef>
                <a:spcPts val="800"/>
              </a:spcBef>
              <a:defRPr sz="1450">
                <a:solidFill>
                  <a:srgbClr val="FFFFFF"/>
                </a:solidFill>
                <a:latin typeface="Segoe UI"/>
              </a:defRPr>
            </a:pPr>
            <a:r>
              <a:t>• Add voice biometrics to verify candidate identity and prevent proxy test-taking.</a:t>
            </a:r>
          </a:p>
          <a:p>
            <a:pPr>
              <a:spcBef>
                <a:spcPts val="800"/>
              </a:spcBef>
              <a:defRPr sz="1450">
                <a:solidFill>
                  <a:srgbClr val="FFFFFF"/>
                </a:solidFill>
                <a:latin typeface="Segoe UI"/>
              </a:defRPr>
            </a:pPr>
            <a:r>
              <a:t>• Extend multi-lingual interview support using localized Web Speech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